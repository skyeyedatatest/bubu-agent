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2743200" cy="274320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828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371600" cy="381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环境保护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C8E6C9"/>
                </a:solidFill>
              </a:defRPr>
            </a:pPr>
            <a:r>
              <a:t>珍爱地球 · 绿色未来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A5D6A7"/>
                </a:solidFill>
              </a:defRPr>
            </a:pPr>
            <a:r>
              <a:t>守护我们共同的家园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83080"/>
            <a:ext cx="101600" cy="1016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1783080"/>
            <a:ext cx="101600" cy="1016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783080"/>
            <a:ext cx="101600" cy="1016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  /  11</a:t>
            </a:r>
          </a:p>
        </p:txBody>
      </p:sp>
      <p:sp>
        <p:nvSpPr>
          <p:cNvPr id="13" name="Oval 12"/>
          <p:cNvSpPr/>
          <p:nvPr/>
        </p:nvSpPr>
        <p:spPr>
          <a:xfrm>
            <a:off x="6844000" y="4358000"/>
            <a:ext cx="2000000" cy="2000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94000" y="4608000"/>
            <a:ext cx="1500000" cy="15000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4000" y="5208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微软雅黑"/>
              </a:defRPr>
            </a:pPr>
            <a:r>
              <a:t>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01  环境现状与挑战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02  大气污染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03  水污染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04  土壤污染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05  垃圾问题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06  个人环保行动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07  绿色能源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08  环保政策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09  结语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环境现状与挑战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🌍 全球气候变暖：近百年全球平均气温上升约0.74°C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🏭 工业排放：每年全球CO₂排放量超过360亿吨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🌊 海洋污染：每年约800万吨塑料垃圾流入海洋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🌳 森林砍伐：每年消失的森林面积相当于一个英国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🦋 生物多样性：约100万种动植物面临灭绝威胁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🔴 这些挑战需要全人类共同面对和解决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  /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4000" y="1600000"/>
            <a:ext cx="2200000" cy="180000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4000" y="23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7D32"/>
                </a:solidFill>
                <a:latin typeface="微软雅黑"/>
              </a:defRPr>
            </a:pPr>
            <a:r>
              <a:t>📊 环境数据图表</a:t>
            </a:r>
          </a:p>
        </p:txBody>
      </p:sp>
      <p:sp>
        <p:nvSpPr>
          <p:cNvPr id="12" name="Oval 11"/>
          <p:cNvSpPr/>
          <p:nvPr/>
        </p:nvSpPr>
        <p:spPr>
          <a:xfrm>
            <a:off x="8894000" y="1800000"/>
            <a:ext cx="900000" cy="9000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4000" y="207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7D32"/>
                </a:solidFill>
                <a:latin typeface="微软雅黑"/>
              </a:defRPr>
            </a:pPr>
            <a:r>
              <a:t>150+</a:t>
            </a:r>
          </a:p>
        </p:txBody>
      </p:sp>
      <p:sp>
        <p:nvSpPr>
          <p:cNvPr id="14" name="Oval 13"/>
          <p:cNvSpPr/>
          <p:nvPr/>
        </p:nvSpPr>
        <p:spPr>
          <a:xfrm>
            <a:off x="8894000" y="2850000"/>
            <a:ext cx="900000" cy="900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4000" y="3120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7D32"/>
                </a:solidFill>
                <a:latin typeface="微软雅黑"/>
              </a:defRPr>
            </a:pPr>
            <a:r>
              <a:t>20亿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大气污染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主要污染物：PM2.5、PM10、SO₂、NOₓ、O₃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排放来源：工厂废气、汽车尾气、燃煤取暖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健康影响：呼吸道疾病、心血管疾病、肺癌风险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环境效应：酸雨、光化学烟雾、温室效应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📊 世界卫生组织数据：全球每10人中有9人呼吸被污染的空气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  /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1300000"/>
            <a:ext cx="4197000" cy="4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🌫️ 污染来源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🏭 工业排放：工厂废气、粉尘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🚗 汽车尾气：CO、NOₓ、碳氢化合物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🔥 燃煤取暖：SO₂、PM2.5排放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🌾 秸秆焚烧：大量烟尘和有害气体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🏗️ 建筑扬尘：施工和道路扬尘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7000" y="1300000"/>
            <a:ext cx="4197000" cy="4900000"/>
          </a:xfrm>
          <a:prstGeom prst="round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🏥 健康影响与防治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7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😷 呼吸道疾病：哮喘、支气管炎、肺炎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❤️ 心血管疾病：心脏病、高血压加重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🫁 肺癌风险：PM2.5被WHO列为一类致癌物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🛡️ 个人防护：戴口罩、减少外出、空气净化器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🌳 公共措施：植树绿化、清洁能源推广</a:t>
            </a:r>
          </a:p>
        </p:txBody>
      </p:sp>
      <p:sp>
        <p:nvSpPr>
          <p:cNvPr id="16" name="Oval 15"/>
          <p:cNvSpPr/>
          <p:nvPr/>
        </p:nvSpPr>
        <p:spPr>
          <a:xfrm>
            <a:off x="8244000" y="1133334"/>
            <a:ext cx="500000" cy="5000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水污染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工业废水：重金属、有机溶剂、有毒化学物质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农业污染：化肥、农药流入江河湖泊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生活污水：洗涤剂、油污、生活垃圾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石油泄漏：对海洋生态系统造成毁灭性打击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💧 全球约22亿人缺乏安全管理的饮用水服务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  /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1300000"/>
            <a:ext cx="4197000" cy="4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💧 污染源分类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🏭 工业废水：重金属、有机溶剂、有毒化学品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🌾 农业污染：化肥、农药流入江河湖泊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🏠 生活污水：洗涤剂、油污、生活废弃物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🛢️ 石油泄漏：海上运输和开采事故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🧪 微塑料污染：化妆品、洗涤产品、塑料分解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7000" y="1300000"/>
            <a:ext cx="4197000" cy="4900000"/>
          </a:xfrm>
          <a:prstGeom prst="round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🔧 治理措施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7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🔬 污水处理：物理沉淀、活性污泥、膜处理技术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💧 净水技术：反渗透、活性炭过滤、紫外线消毒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🌿 生态修复：人工湿地、水体自净能力恢复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📋 政策法规：排污许可证、排污收费制度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♻️ 循环利用：工业用水循环、雨水收集利用</a:t>
            </a:r>
          </a:p>
        </p:txBody>
      </p:sp>
      <p:sp>
        <p:nvSpPr>
          <p:cNvPr id="16" name="Oval 15"/>
          <p:cNvSpPr/>
          <p:nvPr/>
        </p:nvSpPr>
        <p:spPr>
          <a:xfrm>
            <a:off x="8244000" y="1133334"/>
            <a:ext cx="500000" cy="5000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土壤污染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污染源：工业废弃物、农药化肥、重金属沉降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影响：土壤肥力下降、农作物污染、地下水污染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修复难度：土壤自净能力弱，治理周期长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🌱 中国受污染耕地面积约1.5亿亩</a:t>
            </a: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🌱 土壤修复需要几十年甚至上百年的时间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垃圾问题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全球每年产生超过20亿吨固体垃圾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塑料垃圾：难以降解，微塑料已进入食物链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◡ 电子垃圾：含重金属和有毒物质，回收率低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♻️ 解决方案：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    • 垃圾分类——资源化利用的基础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    • 源头减量——减少一次性用品使用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    • 循环经济——变废为宝，零废弃生活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个人环保行动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绿色出行：步行、骑行、公共交通、新能源车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节能减排：随手关灯、节约用水、合理使用空调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垃圾分类：正确分类投放，减少垃圾产生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绿色消费：选择环保产品，拒绝过度包装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减少浪费：光盘行动，旧物再利用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✅ 植树造林：参与绿化活动，增加碳汇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🌿 每个人小小的改变，汇聚成巨大的力量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  /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1300000"/>
            <a:ext cx="4197000" cy="4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🌱 日常行动（一）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🚲 绿色出行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多步行、骑行或乘坐公共交通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减少私家车使用，降低碳排放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♻️ 垃圾分类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正确分类可回收物、厨余垃圾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有害垃圾单独投放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💡 节约能源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随手关灯，使用节能电器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空调调高1°C，减少能源消耗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7000" y="1300000"/>
            <a:ext cx="4197000" cy="4900000"/>
          </a:xfrm>
          <a:prstGeom prst="round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🌿 日常行动（二）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7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🥦 可持续饮食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减少食物浪费，光盘行动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多选择本地当季食材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🛍️ 绿色消费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选择环保认证产品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拒绝过度包装，自带购物袋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📢 传播环保理念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分享环保知识到社交媒体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• 带动身边人一起参与环保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绿色能源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☀️ 太阳能：光伏发电，取之不尽用之不竭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💨 风能：风力发电，清洁可再生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🌊 水能：水力发电，技术成熟稳定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🌋 地热能：利用地球内部热能供暖发电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🌾 生物质能：利用有机废弃物转化能源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⚡ 到2050年，可再生能源有望满足全球80%以上的电力需求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  / 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1300000"/>
            <a:ext cx="4197000" cy="49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🔆 可再生能源类型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☀️ 太阳能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光伏发电，取之不尽用之不竭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💨 风能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风力发电，清洁可再生的优质能源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🌊 水能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水力发电，技术最成熟的可再生能源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🌿 生物质能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利用有机废弃物转化能源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🌋 地热能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   利用地球内部热能供暖发电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7000" y="1300000"/>
            <a:ext cx="4197000" cy="4900000"/>
          </a:xfrm>
          <a:prstGeom prst="round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7000" y="1400000"/>
            <a:ext cx="3897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⭐ 优势与应用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7000" y="1800000"/>
            <a:ext cx="3797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✅ 清洁环保：几乎零碳排放，减少温室效应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✅ 可持续性：能源来源不会枯竭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✅ 经济性：运维成本低，长期收益高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✅ 应用广泛：可用于发电、供暖、交通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✅ 技术进步：效率持续提升，成本逐年下降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微软雅黑"/>
              </a:defRPr>
            </a:pPr>
            <a:r>
              <a:t>📈 中国可再生能源装机容量全球第一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508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635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E7D32"/>
                </a:solidFill>
              </a:defRPr>
            </a:pPr>
            <a:r>
              <a:t>环保政策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005840"/>
            <a:ext cx="1371600" cy="3810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《巴黎协定》——全球气候治理的重要里程碑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中国“双碳”目标：2030碳达峰·2060碳中和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长江保护法——中国首部流域保护法律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垃圾分类政策——全国46个城市先行实施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1A1A1A"/>
                </a:solidFill>
              </a:defRPr>
            </a:pPr>
            <a:r>
              <a:t>📜 “绿水青山就是金山银山”发展理念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</a:p>
          <a:p>
            <a:pPr algn="l"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1B5E20"/>
                </a:solidFill>
              </a:defRPr>
            </a:pPr>
            <a:r>
              <a:t>🌏 政策引领，全民参与，共建美丽地球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548640" cy="2743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9144000" cy="10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</a:defRPr>
            </a:pPr>
            <a:r>
              <a:t>保护环境，从我做起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2743200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B5E20"/>
                </a:solidFill>
              </a:defRPr>
            </a:pPr>
            <a:r>
              <a:t>每个人都是地球的守护者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t>让我们携手共创绿色未来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20640" y="5760720"/>
            <a:ext cx="127000" cy="127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  /  11</a:t>
            </a:r>
          </a:p>
        </p:txBody>
      </p:sp>
      <p:sp>
        <p:nvSpPr>
          <p:cNvPr id="15" name="Oval 14"/>
          <p:cNvSpPr/>
          <p:nvPr/>
        </p:nvSpPr>
        <p:spPr>
          <a:xfrm>
            <a:off x="6544000" y="4058000"/>
            <a:ext cx="2200000" cy="2200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94000" y="4308000"/>
            <a:ext cx="1700000" cy="17000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4000" y="4958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微软雅黑"/>
              </a:defRPr>
            </a:pPr>
            <a:r>
              <a:t>🌍</a:t>
            </a:r>
          </a:p>
        </p:txBody>
      </p:sp>
      <p:sp>
        <p:nvSpPr>
          <p:cNvPr id="18" name="Oval 17"/>
          <p:cNvSpPr/>
          <p:nvPr/>
        </p:nvSpPr>
        <p:spPr>
          <a:xfrm>
            <a:off x="300000" y="5858000"/>
            <a:ext cx="600000" cy="6000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